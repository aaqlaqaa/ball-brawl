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2980B9"/>
              </a:gs>
              <a:gs pos="100000">
                <a:srgbClr val="6DD5FA"/>
              </a:gs>
            </a:gsLst>
            <a:lin scaled="0" ang="189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Marketing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Building Blocks of Successful Marketing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E74C3C"/>
              </a:gs>
              <a:gs pos="100000">
                <a:srgbClr val="C0392B"/>
              </a:gs>
            </a:gsLst>
            <a:lin scaled="0" ang="162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What is Marketing?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34495E"/>
              </a:gs>
              <a:gs pos="100000">
                <a:srgbClr val="2C3E50"/>
              </a:gs>
            </a:gsLst>
            <a:lin scaled="0" ang="135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Definition of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The process of creating, communicating, and delivering value to customers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Building and maintaining profitable customer relationships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Understanding customer needs and wants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Creating solutions that satisfy those needs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More than just advertising - it's a complete business philosophy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2ECC71"/>
              </a:gs>
              <a:gs pos="100000">
                <a:srgbClr val="27AE60"/>
              </a:gs>
            </a:gsLst>
            <a:lin scaled="0" ang="162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The 4 Ps of Marketing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9B59B6"/>
              </a:gs>
              <a:gs pos="100000">
                <a:srgbClr val="8E44AD"/>
              </a:gs>
            </a:gsLst>
            <a:lin scaled="0" ang="135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What you're selling - goods, services, or experiences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Features, quality, design, and branding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Product lifecycle management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Differentiation from competitors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Meeting customer needs and solving problems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3498DB"/>
              </a:gs>
              <a:gs pos="100000">
                <a:srgbClr val="2980B9"/>
              </a:gs>
            </a:gsLst>
            <a:lin scaled="0" ang="135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What customers pay for your product or service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Pricing strategies: premium, penetration, competitive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Perceived value vs. actual cost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Discounts, payment terms, and financing options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Impact on brand positioning and profitability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E67E22"/>
              </a:gs>
              <a:gs pos="100000">
                <a:srgbClr val="D35400"/>
              </a:gs>
            </a:gsLst>
            <a:lin scaled="0" ang="135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Place (Distribution)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Where and how customers can access your product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Distribution channels: direct, retail, online, wholesale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Logistics and supply chain management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Market coverage and accessibility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Omnichannel strategies for modern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E74C3C"/>
              </a:gs>
              <a:gs pos="100000">
                <a:srgbClr val="C0392B"/>
              </a:gs>
            </a:gsLst>
            <a:lin scaled="0" ang="135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Promotion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How you communicate with your target audience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Advertising, public relations, sales promotions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Digital marketing: social media, email, content marketing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Personal selling and direct marketing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Integrated marketing communications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F1C40F"/>
              </a:gs>
              <a:gs pos="100000">
                <a:srgbClr val="F39C12"/>
              </a:gs>
            </a:gsLst>
            <a:lin scaled="0" ang="162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Market Segmentation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ABC9C"/>
              </a:gs>
              <a:gs pos="100000">
                <a:srgbClr val="16A085"/>
              </a:gs>
            </a:gsLst>
            <a:lin scaled="0" ang="135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Understanding Your 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Demographic: age, gender, income, education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Geographic: location, climate, urban vs. rural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Psychographic: lifestyle, values, personality, interests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Behavioral: purchase patterns, brand loyalty, usage rate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Targeting the right segments for maximum impact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9B59B6"/>
              </a:gs>
              <a:gs pos="100000">
                <a:srgbClr val="8E44AD"/>
              </a:gs>
            </a:gsLst>
            <a:lin scaled="0" ang="162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Consumer Behavior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34495E"/>
              </a:gs>
              <a:gs pos="100000">
                <a:srgbClr val="2C3E50"/>
              </a:gs>
            </a:gsLst>
            <a:lin scaled="0" ang="135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Understanding the Buyer's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Awareness: recognizing a need or problem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Consideration: researching and evaluating options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Decision: making the purchase choice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Post-purchase: evaluation and loyalty building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Factors influencing decisions: cultural, social, personal, psychological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E67E22"/>
              </a:gs>
              <a:gs pos="100000">
                <a:srgbClr val="D35400"/>
              </a:gs>
            </a:gsLst>
            <a:lin scaled="0" ang="162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Brand Management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E74C3C"/>
              </a:gs>
              <a:gs pos="100000">
                <a:srgbClr val="C0392B"/>
              </a:gs>
            </a:gsLst>
            <a:lin scaled="0" ang="135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Building a Strong Brand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Brand identity: name, logo, visual elements, voice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Brand positioning: unique place in customer's mind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Brand equity: value derived from consumer perception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Consistency across all touchpoints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Emotional connections and brand loyalty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3498DB"/>
              </a:gs>
              <a:gs pos="100000">
                <a:srgbClr val="2980B9"/>
              </a:gs>
            </a:gsLst>
            <a:lin scaled="0" ang="162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Digital Marketing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2ECC71"/>
              </a:gs>
              <a:gs pos="100000">
                <a:srgbClr val="27AE60"/>
              </a:gs>
            </a:gsLst>
            <a:lin scaled="0" ang="135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Marketing in the Digital 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Social media marketing: engagement and community building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Content marketing: valuable, relevant content creation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SEO &amp; SEM: search engine visibility and paid advertising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Email marketing: personalized communication at scale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Analytics and data-driven decision making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9B59B6"/>
              </a:gs>
              <a:gs pos="100000">
                <a:srgbClr val="8E44AD"/>
              </a:gs>
            </a:gsLst>
            <a:lin scaled="0" ang="162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Measuring Success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34495E"/>
              </a:gs>
              <a:gs pos="100000">
                <a:srgbClr val="2C3E50"/>
              </a:gs>
            </a:gsLst>
            <a:lin scaled="0" ang="135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Key Performance Indicators (KPIs)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ROI (Return on Investment): revenue vs. marketing spend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Customer Acquisition Cost (CAC)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Customer Lifetime Value (CLV)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Conversion rates and engagement metrics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Brand awareness and market share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ABC9C"/>
              </a:gs>
              <a:gs pos="100000">
                <a:srgbClr val="16A085"/>
              </a:gs>
            </a:gsLst>
            <a:lin scaled="0" ang="162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Creating a Marketing Strategy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E67E22"/>
              </a:gs>
              <a:gs pos="100000">
                <a:srgbClr val="D35400"/>
              </a:gs>
            </a:gsLst>
            <a:lin scaled="0" ang="135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Strategic Planning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Situation analysis: SWOT (Strengths, Weaknesses, Opportunities, Threats)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Setting SMART goals: Specific, Measurable, Achievable, Relevant, Time-bound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Target market selection and positioning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Marketing mix development (4 Ps)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Implementation, monitoring, and adjustment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2980B9"/>
              </a:gs>
              <a:gs pos="100000">
                <a:srgbClr val="6DD5FA"/>
              </a:gs>
            </a:gsLst>
            <a:lin scaled="0" ang="162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2ECC71"/>
              </a:gs>
              <a:gs pos="100000">
                <a:srgbClr val="27AE60"/>
              </a:gs>
            </a:gsLst>
            <a:lin scaled="0" ang="135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Marketing is about creating value for customers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Master the 4 Ps: Product, Price, Place, Promotion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Understand your audience through segmentation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Build strong brands that resonate emotionally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Embrace digital channels and data-driven decisions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Measure, analyze, and continuously improve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